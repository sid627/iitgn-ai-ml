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volume (legacy + nova), % change vs Q1'25</c:v>
                </c:pt>
              </c:strCache>
            </c:strRef>
          </c:tx>
          <c:spPr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\+0"%";\-0"%";0"%"</c:formatCode>
                <c:ptCount val="6"/>
                <c:pt idx="0">
                  <c:v>0</c:v>
                </c:pt>
                <c:pt idx="1">
                  <c:v>-2.5</c:v>
                </c:pt>
                <c:pt idx="2">
                  <c:v>-4.5</c:v>
                </c:pt>
                <c:pt idx="3">
                  <c:v>-6.7</c:v>
                </c:pt>
                <c:pt idx="4">
                  <c:v>6</c:v>
                </c:pt>
                <c:pt idx="5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B0-4DD6-B8B7-BE42F3D31C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C3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A7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-8"/>
        </c:scaling>
        <c:delete val="0"/>
        <c:axPos val="l"/>
        <c:majorGridlines>
          <c:spPr>
            <a:ln w="12700" cap="flat">
              <a:solidFill>
                <a:srgbClr val="232C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C3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A7B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0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4's Brief C finding. We reconciled every Q2 2026 invoice to the cash the gateway actually captured, to the exact rupee, and checked whether the billing gap explains the organisation's weak test-volume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 saw collections running about 10 percent below billing. Calling the whole 1.36 crore gap a leak would trigger brand-damaging collection calls on patients who have simply not yet paid. Our job was to decompose the gap into timing, float, and the genuinely recoverable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balances to zero. The gap is three moves: 1.11 crore never captured, 0.30 crore captured after the quarter closed in July, and a small 0.05 crore net over-capture from duplicate charges. Nothing is unexplained; SQL agrees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gap is not a leak. Over 62 lakh is recent working float from the last week of June — do not chase it. The genuinely recoverable leak is 48 lakh across 2,854 aged invoices. Separately, 317 invoices were double-captured and 4,588 orphan payments reference no invoice. Three teams, three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board's real question is the growth miss. We reproduced it from the data: H1 test volume grew 5.8 percent against an 18 percent plan — only about 31 percent of the planned increase. Volume swings on demand: down through 2025, a 6 percent jump in Q1 2026, then back near flat. Billing happens after a test is counted, so it cannot be the cause. The miss is demand — Jaipur down 12 percent, Chennai down 5 percent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one sentence: the Q2 billing gap is explained to the rupee and is mostly timing and float, with only 48 lakh genuinely recoverable; and it is a realization problem, separate from the demand-driven growth miss. Every figure traces to rows.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· INVOICED → CAPTURED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Revenue Bridge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Kalpa billed to the cash it actually captured — every rupee placed, the gap explained, and the growth question answered honestly.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8368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4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 Menon, COO</a:t>
            </a:r>
            <a:r>
              <a:rPr lang="en-US" sz="14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the finance controller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QUESTION · Q2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Collections run below billing.</a:t>
            </a:r>
            <a:endParaRPr lang="en-US" sz="3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Leak, timing, or data artifact?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4572000" cy="1417320"/>
          </a:xfrm>
          <a:prstGeom prst="roundRect">
            <a:avLst>
              <a:gd name="adj" fmla="val 4516"/>
            </a:avLst>
          </a:prstGeom>
          <a:solidFill>
            <a:srgbClr val="141A22"/>
          </a:solidFill>
          <a:ln w="12700">
            <a:solidFill>
              <a:srgbClr val="232C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A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3649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AA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₹13.28 Cr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79,246 invoices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2880360"/>
            <a:ext cx="4572000" cy="1417320"/>
          </a:xfrm>
          <a:prstGeom prst="roundRect">
            <a:avLst>
              <a:gd name="adj" fmla="val 4516"/>
            </a:avLst>
          </a:prstGeom>
          <a:solidFill>
            <a:srgbClr val="141A22"/>
          </a:solidFill>
          <a:ln w="12700">
            <a:solidFill>
              <a:srgbClr val="232C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IN-QUARTER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33649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₹11.93 Cr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67512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of billing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41148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6634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₹1.36 Cr</a:t>
            </a:r>
            <a:r>
              <a:rPr lang="en-US" sz="15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 the board can't read — is it money lost, or money simply not in yet? The next slide places every rupee of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· THE Q2 BRIDGE, ₹ CRORE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rupee of the gap, placed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 w="15875">
            <a:solidFill>
              <a:srgbClr val="5AA0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14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A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₹13.28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· start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738360" y="233172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38360" y="2514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738360" y="27889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₹11.93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73836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· end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0" y="3429000"/>
            <a:ext cx="6720840" cy="0"/>
          </a:xfrm>
          <a:prstGeom prst="line">
            <a:avLst/>
          </a:prstGeom>
          <a:noFill/>
          <a:ln w="19050">
            <a:solidFill>
              <a:srgbClr val="3A45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68980" y="3429000"/>
            <a:ext cx="1417320" cy="1051560"/>
          </a:xfrm>
          <a:prstGeom prst="rect">
            <a:avLst/>
          </a:prstGeom>
          <a:solidFill>
            <a:srgbClr val="F0566D">
              <a:alpha val="70000"/>
            </a:srgbClr>
          </a:solidFill>
          <a:ln w="19050">
            <a:solidFill>
              <a:srgbClr val="F056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7180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paid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97180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5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−1.11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00700" y="3429000"/>
            <a:ext cx="1143000" cy="457200"/>
          </a:xfrm>
          <a:prstGeom prst="rect">
            <a:avLst/>
          </a:prstGeom>
          <a:solidFill>
            <a:srgbClr val="F5B344">
              <a:alpha val="70000"/>
            </a:srgbClr>
          </a:solidFill>
          <a:ln w="19050">
            <a:solidFill>
              <a:srgbClr val="F5B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July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6636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749540" y="3300984"/>
            <a:ext cx="868680" cy="1280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0"/>
          <p:cNvSpPr/>
          <p:nvPr/>
        </p:nvSpPr>
        <p:spPr>
          <a:xfrm>
            <a:off x="7178040" y="2916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780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/ under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A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13.28 </a:t>
            </a:r>
            <a:r>
              <a:rPr lang="en-US" sz="2600" b="1" dirty="0">
                <a:solidFill>
                  <a:srgbClr val="9B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2600" b="1" dirty="0">
                <a:solidFill>
                  <a:srgbClr val="F05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1.11 </a:t>
            </a:r>
            <a:r>
              <a:rPr lang="en-US" sz="2600" b="1" dirty="0">
                <a:solidFill>
                  <a:srgbClr val="9B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2600" b="1" dirty="0">
                <a:solidFill>
                  <a:srgbClr val="F5B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</a:t>
            </a:r>
            <a:r>
              <a:rPr lang="en-US" sz="2600" b="1" dirty="0">
                <a:solidFill>
                  <a:srgbClr val="9B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2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 </a:t>
            </a:r>
            <a:r>
              <a:rPr lang="en-US" sz="2600" b="1" dirty="0">
                <a:solidFill>
                  <a:srgbClr val="9B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11.93</a:t>
            </a:r>
            <a:r>
              <a:rPr lang="en-US" sz="2600" b="1" dirty="0">
                <a:solidFill>
                  <a:srgbClr val="9B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1500" b="1" i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₹0.00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5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paid</a:t>
            </a: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>
                <a:solidFill>
                  <a:srgbClr val="F5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July (timing)</a:t>
            </a: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over-capture</a:t>
            </a: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hover a bar for exact rupees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THE GAP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₹48 L is a real leak — chase, wait, fix.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41A22"/>
          </a:solidFill>
          <a:ln w="19050">
            <a:solidFill>
              <a:srgbClr val="F05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78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₹48.41 L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2,854 aged invoices (&gt;7 days) — the real recoverable leak.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Finance recovery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98848" y="23317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41A22"/>
          </a:solidFill>
          <a:ln w="19050">
            <a:solidFill>
              <a:srgbClr val="F5B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2578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73168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₹62.67 L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73168" y="37947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3,727 Jun 24–30 invoices — normal float, still settling.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73168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Credit control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57616" y="23317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41A22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1936" y="2578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31936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317 + 4,588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631936" y="37947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Double-captures to refund; orphan payments to reconcile.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31936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5A47D-C595-BDE3-31BE-1E18E6E2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6"/>
            <a:ext cx="12190071" cy="68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8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BEHIND THE QUESTION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this leak cause the growth miss?  </a:t>
            </a: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03120"/>
          <a:ext cx="10881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74920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0017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 (legacy + nova)</a:t>
            </a: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% change vs Q1-2025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41148" cy="1051560"/>
          </a:xfrm>
          <a:prstGeom prst="rect">
            <a:avLst/>
          </a:prstGeom>
          <a:solidFill>
            <a:srgbClr val="F5B344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4406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</a:t>
            </a: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grown vs an </a:t>
            </a: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 — only </a:t>
            </a: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</a:t>
            </a: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planned increase. Volume swings on </a:t>
            </a: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down through 2025, a +6% jump in Q1'26 — and a test is counted </a:t>
            </a:r>
            <a:r>
              <a:rPr lang="en-US" sz="1300" b="1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billed, so the leak can't drive it. The miss is demand — Jaipur −12%, Chennai −5% patients — not billing.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754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9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 Health · Brief C — Money · Group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FOR THE 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explained, mostly timing &amp; float — and the growth miss is demand, not billing.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8368" y="3520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invoiced-to-captured bridge balances to zero, the only recoverable leak is a short, identity-checked chase list, and test-volume growth is a separate, demand-side workstream.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8368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to ₹0.00 · every figure traces to rows in </a:t>
            </a: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invoice_reconciliation.csv</a:t>
            </a:r>
            <a:r>
              <a:rPr lang="en-US" sz="1400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 bank statement still confirms net settlement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842</Words>
  <Application>Microsoft Office PowerPoint</Application>
  <PresentationFormat>Widescreen</PresentationFormat>
  <Paragraphs>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IITGN Build Week 1 · Brief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Group 4</dc:creator>
  <cp:lastModifiedBy>siddhi zawar</cp:lastModifiedBy>
  <cp:revision>5</cp:revision>
  <dcterms:created xsi:type="dcterms:W3CDTF">2026-10-25T09:18:55Z</dcterms:created>
  <dcterms:modified xsi:type="dcterms:W3CDTF">2026-10-25T10:28:07Z</dcterms:modified>
</cp:coreProperties>
</file>